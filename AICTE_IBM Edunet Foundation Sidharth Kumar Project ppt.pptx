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0"/>
  </p:notesMasterIdLst>
  <p:sldIdLst>
    <p:sldId id="283" r:id="rId2"/>
    <p:sldId id="257" r:id="rId3"/>
    <p:sldId id="282" r:id="rId4"/>
    <p:sldId id="285" r:id="rId5"/>
    <p:sldId id="278" r:id="rId6"/>
    <p:sldId id="296" r:id="rId7"/>
    <p:sldId id="297" r:id="rId8"/>
    <p:sldId id="298" r:id="rId9"/>
    <p:sldId id="299" r:id="rId10"/>
    <p:sldId id="300" r:id="rId11"/>
    <p:sldId id="281" r:id="rId12"/>
    <p:sldId id="279" r:id="rId13"/>
    <p:sldId id="262" r:id="rId14"/>
    <p:sldId id="292" r:id="rId15"/>
    <p:sldId id="293" r:id="rId16"/>
    <p:sldId id="294" r:id="rId17"/>
    <p:sldId id="295" r:id="rId18"/>
    <p:sldId id="264" r:id="rId19"/>
    <p:sldId id="277" r:id="rId20"/>
    <p:sldId id="301" r:id="rId21"/>
    <p:sldId id="286" r:id="rId22"/>
    <p:sldId id="287" r:id="rId23"/>
    <p:sldId id="280" r:id="rId24"/>
    <p:sldId id="288" r:id="rId25"/>
    <p:sldId id="290" r:id="rId26"/>
    <p:sldId id="291" r:id="rId27"/>
    <p:sldId id="289" r:id="rId28"/>
    <p:sldId id="276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dharth6834/Library-Ai-Agen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IBM Cloud , IBM BOB”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043190304"/>
              </p:ext>
            </p:extLst>
          </p:nvPr>
        </p:nvGraphicFramePr>
        <p:xfrm>
          <a:off x="1299257" y="2408903"/>
          <a:ext cx="9394989" cy="2749619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0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62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6464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Sidharth Kumar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/>
                        <a:t>SkillsBuild</a:t>
                      </a:r>
                      <a:r>
                        <a:rPr lang="en-US" sz="1400" dirty="0"/>
                        <a:t>/</a:t>
                      </a:r>
                      <a:r>
                        <a:rPr lang="en-US" sz="1400" dirty="0" err="1"/>
                        <a:t>Credly</a:t>
                      </a:r>
                      <a:r>
                        <a:rPr lang="en-US" sz="1400" dirty="0"/>
                        <a:t>/ </a:t>
                      </a:r>
                      <a:r>
                        <a:rPr lang="en-US" sz="1400" dirty="0" err="1"/>
                        <a:t>Ibm</a:t>
                      </a:r>
                      <a:r>
                        <a:rPr lang="en-US" sz="1400" dirty="0"/>
                        <a:t> Cloud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/</a:t>
                      </a:r>
                      <a:r>
                        <a:rPr lang="en-US" sz="1400" dirty="0" err="1"/>
                        <a:t>watsonx</a:t>
                      </a:r>
                      <a:r>
                        <a:rPr lang="en-US" sz="1400" dirty="0"/>
                        <a:t> Ai /IBM Bob / </a:t>
                      </a:r>
                      <a:r>
                        <a:rPr lang="en-US" sz="1400" dirty="0" err="1"/>
                        <a:t>Attendence</a:t>
                      </a:r>
                      <a:r>
                        <a:rPr lang="en-US" sz="1400" dirty="0"/>
                        <a:t> Email id is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/>
                        <a:t>sidharthkumar7177@gmail.com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AICTE: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/>
                        <a:t>sidharthkumar7718@gmail.com</a:t>
                      </a:r>
                      <a:endParaRPr sz="14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9696042135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IN" sz="2800" b="1" dirty="0">
                <a:highlight>
                  <a:srgbClr val="FFFF00"/>
                </a:highlight>
              </a:rPr>
              <a:t>Education / EdTech</a:t>
            </a:r>
            <a:r>
              <a:rPr lang="en-US" sz="24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IN" sz="2800" dirty="0">
                <a:highlight>
                  <a:srgbClr val="FFFF00"/>
                </a:highlight>
              </a:rPr>
              <a:t>Library AI Agent</a:t>
            </a:r>
            <a:r>
              <a:rPr lang="en-US" sz="24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Recommended font style and size:</a:t>
            </a:r>
            <a:br>
              <a:rPr lang="en-US" sz="2000" dirty="0">
                <a:solidFill>
                  <a:srgbClr val="FF0000"/>
                </a:solidFill>
              </a:rPr>
            </a:br>
            <a:br>
              <a:rPr lang="en-US" sz="2000" dirty="0"/>
            </a:br>
            <a:r>
              <a:rPr lang="en-US" sz="2000" dirty="0">
                <a:solidFill>
                  <a:srgbClr val="FF0000"/>
                </a:solidFill>
              </a:rPr>
              <a:t>Font Style: Arial</a:t>
            </a: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dirty="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 dirty="0">
                <a:solidFill>
                  <a:srgbClr val="FF0000"/>
                </a:solidFill>
              </a:rPr>
              <a:t>Font Size (Content): 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7842DE-D6E1-E80A-3C82-C5D23EC92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887" y="3569110"/>
            <a:ext cx="1181410" cy="11983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Problem Statement No. 21 – Library AI Agent</a:t>
            </a:r>
          </a:p>
          <a:p>
            <a:endParaRPr lang="en-IN" b="1" dirty="0"/>
          </a:p>
          <a:p>
            <a:r>
              <a:rPr lang="en-IN" sz="2000" b="1" dirty="0"/>
              <a:t>The Challenge</a:t>
            </a:r>
          </a:p>
          <a:p>
            <a:endParaRPr lang="en-IN" b="1" dirty="0"/>
          </a:p>
          <a:p>
            <a:r>
              <a:rPr lang="en-IN" sz="1600" dirty="0"/>
              <a:t>A </a:t>
            </a:r>
            <a:r>
              <a:rPr lang="en-IN" sz="1600" b="1" dirty="0"/>
              <a:t>Library AI Agent</a:t>
            </a:r>
            <a:r>
              <a:rPr lang="en-IN" sz="1600" dirty="0"/>
              <a:t> is an intelligent system designed to assist students in finding suitable learning materials based on their academic needs. It can </a:t>
            </a:r>
            <a:r>
              <a:rPr lang="en-IN" sz="1600" dirty="0" err="1"/>
              <a:t>analyze</a:t>
            </a:r>
            <a:r>
              <a:rPr lang="en-IN" sz="1600" dirty="0"/>
              <a:t> student profiles, study topics, and course syllabi to recommend relevant books and other educational resources.</a:t>
            </a:r>
          </a:p>
          <a:p>
            <a:r>
              <a:rPr lang="en-IN" sz="1600" dirty="0"/>
              <a:t>Using </a:t>
            </a:r>
            <a:r>
              <a:rPr lang="en-IN" sz="1600" b="1" dirty="0"/>
              <a:t>Natural Language Processing (NLP)</a:t>
            </a:r>
            <a:r>
              <a:rPr lang="en-IN" sz="1600" dirty="0"/>
              <a:t>, the agent understands student queries and matches them with appropriate books available in the library database. It can also check </a:t>
            </a:r>
            <a:r>
              <a:rPr lang="en-IN" sz="1600" b="1" dirty="0"/>
              <a:t>real-time book availability</a:t>
            </a:r>
            <a:r>
              <a:rPr lang="en-IN" sz="1600" dirty="0"/>
              <a:t>, prioritize high-demand titles, and assist students with </a:t>
            </a:r>
            <a:r>
              <a:rPr lang="en-IN" sz="1600" b="1" dirty="0"/>
              <a:t>book reservations and waitlist management</a:t>
            </a:r>
            <a:r>
              <a:rPr lang="en-IN" sz="1600" dirty="0"/>
              <a:t>.</a:t>
            </a:r>
          </a:p>
          <a:p>
            <a:r>
              <a:rPr lang="en-IN" sz="1600" dirty="0"/>
              <a:t>The Library AI Agent saves time by streamlining the process of searching for learning materials and providing </a:t>
            </a:r>
            <a:r>
              <a:rPr lang="en-IN" sz="1600" b="1" dirty="0"/>
              <a:t>personalized recommendations</a:t>
            </a:r>
            <a:r>
              <a:rPr lang="en-IN" sz="1600" dirty="0"/>
              <a:t> aligned with the student's current academic requirements. It improves access to educational resources, increases student engagement, and promotes better utilization of library resources.</a:t>
            </a:r>
          </a:p>
          <a:p>
            <a:r>
              <a:rPr lang="en-IN" sz="1600" b="1" dirty="0"/>
              <a:t>Technology Requirements</a:t>
            </a:r>
          </a:p>
          <a:p>
            <a:pPr lvl="0"/>
            <a:r>
              <a:rPr lang="en-IN" sz="1600" b="1" dirty="0"/>
              <a:t>IBM Cloud Lite services</a:t>
            </a:r>
            <a:r>
              <a:rPr lang="en-IN" sz="1600" dirty="0"/>
              <a:t> – Mandatory </a:t>
            </a:r>
          </a:p>
          <a:p>
            <a:pPr lvl="0"/>
            <a:r>
              <a:rPr lang="en-IN" sz="1600" b="1" dirty="0"/>
              <a:t>IBM Granite</a:t>
            </a:r>
            <a:r>
              <a:rPr lang="en-IN" sz="1600" dirty="0"/>
              <a:t> – Mandatory </a:t>
            </a:r>
          </a:p>
          <a:p>
            <a:pPr lvl="0"/>
            <a:r>
              <a:rPr lang="en-IN" sz="1600" dirty="0"/>
              <a:t>Natural Language Processing (NLP) </a:t>
            </a:r>
          </a:p>
          <a:p>
            <a:pPr lvl="0"/>
            <a:r>
              <a:rPr lang="en-IN" sz="1600" dirty="0"/>
              <a:t>Library database for book information and availability </a:t>
            </a:r>
          </a:p>
          <a:p>
            <a:pPr lvl="0"/>
            <a:r>
              <a:rPr lang="en-IN" sz="1600" dirty="0"/>
              <a:t>AI-based personalized recommendation system </a:t>
            </a:r>
          </a:p>
          <a:p>
            <a:pPr lvl="0"/>
            <a:r>
              <a:rPr lang="en-IN" sz="1600" dirty="0"/>
              <a:t>Book reservation and waitlist functionality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Proposed Solution: AI-Powered Library Agent</a:t>
            </a:r>
          </a:p>
          <a:p>
            <a:endParaRPr lang="en-IN" b="1" dirty="0"/>
          </a:p>
          <a:p>
            <a:r>
              <a:rPr lang="en-IN" dirty="0"/>
              <a:t>The proposed solution is an </a:t>
            </a:r>
            <a:r>
              <a:rPr lang="en-IN" b="1" dirty="0"/>
              <a:t>AI-powered Library Agent</a:t>
            </a:r>
            <a:r>
              <a:rPr lang="en-IN" dirty="0"/>
              <a:t> built using </a:t>
            </a:r>
            <a:r>
              <a:rPr lang="en-IN" b="1" dirty="0"/>
              <a:t>IBM Granite, IBM watsonx.ai, and IBM Cloud Lite</a:t>
            </a:r>
            <a:r>
              <a:rPr lang="en-IN" dirty="0"/>
              <a:t> to help students quickly find relevant learning resources based on their academic needs. The system understands natural-language queries and provides personalized book recommendations from the library </a:t>
            </a:r>
            <a:r>
              <a:rPr lang="en-IN" dirty="0" err="1"/>
              <a:t>catalog</a:t>
            </a:r>
            <a:r>
              <a:rPr lang="en-IN" dirty="0"/>
              <a:t>.</a:t>
            </a:r>
          </a:p>
          <a:p>
            <a:r>
              <a:rPr lang="en-IN" dirty="0"/>
              <a:t>At its core, the solution uses </a:t>
            </a:r>
            <a:r>
              <a:rPr lang="en-IN" b="1" dirty="0"/>
              <a:t>IBM Granite</a:t>
            </a:r>
            <a:r>
              <a:rPr lang="en-IN" dirty="0"/>
              <a:t> to understand student queries, identify relevant subjects and topics, and recommend suitable books based on factors such as course requirements, student level, and book availability.</a:t>
            </a:r>
          </a:p>
          <a:p>
            <a:r>
              <a:rPr lang="en-IN" dirty="0"/>
              <a:t>The system provides several key features:</a:t>
            </a:r>
            <a:br>
              <a:rPr lang="en-IN" dirty="0"/>
            </a:br>
            <a:r>
              <a:rPr lang="en-IN" b="1" dirty="0"/>
              <a:t>AI Book Recommendation</a:t>
            </a:r>
            <a:r>
              <a:rPr lang="en-IN" dirty="0"/>
              <a:t> helps students find relevant books by simply describing what they want to study.</a:t>
            </a:r>
            <a:br>
              <a:rPr lang="en-IN" dirty="0"/>
            </a:br>
            <a:r>
              <a:rPr lang="en-IN" b="1" dirty="0"/>
              <a:t>Smart Search</a:t>
            </a:r>
            <a:r>
              <a:rPr lang="en-IN" dirty="0"/>
              <a:t> understands natural-language questions instead of relying only on keywords.</a:t>
            </a:r>
            <a:br>
              <a:rPr lang="en-IN" dirty="0"/>
            </a:br>
            <a:r>
              <a:rPr lang="en-IN" b="1" dirty="0"/>
              <a:t>Real-Time Availability</a:t>
            </a:r>
            <a:r>
              <a:rPr lang="en-IN" dirty="0"/>
              <a:t> checks which books and copies are currently available in the library.</a:t>
            </a:r>
            <a:br>
              <a:rPr lang="en-IN" dirty="0"/>
            </a:br>
            <a:r>
              <a:rPr lang="en-IN" b="1" dirty="0"/>
              <a:t>Reservation &amp; Waitlist</a:t>
            </a:r>
            <a:r>
              <a:rPr lang="en-IN" dirty="0"/>
              <a:t> allows students to reserve available books and automatically join a waitlist when all copies are checked out.</a:t>
            </a:r>
            <a:br>
              <a:rPr lang="en-IN" dirty="0"/>
            </a:br>
            <a:r>
              <a:rPr lang="en-IN" b="1" dirty="0"/>
              <a:t>Automatic Notifications</a:t>
            </a:r>
            <a:r>
              <a:rPr lang="en-IN" dirty="0"/>
              <a:t> informs students when a waitlisted book becomes available.</a:t>
            </a:r>
          </a:p>
          <a:p>
            <a:r>
              <a:rPr lang="en-IN" dirty="0"/>
              <a:t>The solution includes a </a:t>
            </a:r>
            <a:r>
              <a:rPr lang="en-IN" b="1" dirty="0"/>
              <a:t>user-friendly web dashboard</a:t>
            </a:r>
            <a:r>
              <a:rPr lang="en-IN" dirty="0"/>
              <a:t> where students can interact with the AI agent, browse the library </a:t>
            </a:r>
            <a:r>
              <a:rPr lang="en-IN" dirty="0" err="1"/>
              <a:t>catalog</a:t>
            </a:r>
            <a:r>
              <a:rPr lang="en-IN" dirty="0"/>
              <a:t>, view their reserved books, and manage returns. The backend manages book availability, reservations, waitlists, and notifications.</a:t>
            </a:r>
          </a:p>
          <a:p>
            <a:r>
              <a:rPr lang="en-IN" b="1" dirty="0"/>
              <a:t>IBM watsonx.ai</a:t>
            </a:r>
            <a:r>
              <a:rPr lang="en-IN" dirty="0"/>
              <a:t> provides the platform for integrating and using Granite models, while </a:t>
            </a:r>
            <a:r>
              <a:rPr lang="en-IN" b="1" dirty="0"/>
              <a:t>IBM Cloud Lite</a:t>
            </a:r>
            <a:r>
              <a:rPr lang="en-IN" dirty="0"/>
              <a:t> supports cloud deployment. </a:t>
            </a:r>
            <a:r>
              <a:rPr lang="en-IN" b="1" dirty="0"/>
              <a:t>IBM Bob</a:t>
            </a:r>
            <a:r>
              <a:rPr lang="en-IN" dirty="0"/>
              <a:t> was used to assist in developing the application and its workflows.</a:t>
            </a:r>
          </a:p>
          <a:p>
            <a:r>
              <a:rPr lang="en-IN" dirty="0"/>
              <a:t>Overall, this solution delivers an </a:t>
            </a:r>
            <a:r>
              <a:rPr lang="en-IN" b="1" dirty="0"/>
              <a:t>end-to-end intelligent library assistant</a:t>
            </a:r>
            <a:r>
              <a:rPr lang="en-IN" dirty="0"/>
              <a:t> that saves students' time, improves access to learning resources, and reduces repetitive work for librarians through automated recommendations, reservations, waitlists, and notifications.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Technology Used-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IBM Granite Model</a:t>
            </a:r>
            <a:r>
              <a:rPr lang="en-IN" dirty="0"/>
              <a:t> – for </a:t>
            </a:r>
            <a:r>
              <a:rPr lang="en-IN" dirty="0" err="1"/>
              <a:t>eg</a:t>
            </a:r>
            <a:r>
              <a:rPr lang="en-IN" dirty="0"/>
              <a:t> – </a:t>
            </a:r>
            <a:r>
              <a:rPr lang="en-IN" dirty="0" err="1"/>
              <a:t>ibm</a:t>
            </a:r>
            <a:r>
              <a:rPr lang="en-IN" dirty="0"/>
              <a:t>/granite-4-h-small – For natural language understanding, reasoning, and personalized book recommendations based on student queries and academic context.</a:t>
            </a:r>
          </a:p>
          <a:p>
            <a:r>
              <a:rPr lang="en-IN" dirty="0"/>
              <a:t>•</a:t>
            </a:r>
          </a:p>
          <a:p>
            <a:r>
              <a:rPr lang="en-IN" b="1" dirty="0"/>
              <a:t>IBM watsonx.ai</a:t>
            </a:r>
            <a:r>
              <a:rPr lang="en-IN" dirty="0"/>
              <a:t> – For model deployment and AI inference. It hosts the Granite model and exposes the text generation API endpoint that our Library Agent calls for every student conversation.</a:t>
            </a:r>
          </a:p>
          <a:p>
            <a:r>
              <a:rPr lang="en-IN" dirty="0"/>
              <a:t>•</a:t>
            </a:r>
          </a:p>
          <a:p>
            <a:r>
              <a:rPr lang="en-IN" b="1" dirty="0"/>
              <a:t>IBM Cloud</a:t>
            </a:r>
            <a:r>
              <a:rPr lang="en-IN" dirty="0"/>
              <a:t> – It provides the infrastructure to build, deploy, and scale the Library Agent efficiently. IBM Cloud enables a </a:t>
            </a:r>
            <a:r>
              <a:rPr lang="en-IN" b="1" dirty="0"/>
              <a:t>reliable, secure, and scalable environment</a:t>
            </a:r>
            <a:r>
              <a:rPr lang="en-IN" dirty="0"/>
              <a:t> for deploying the Library AI Agent.</a:t>
            </a:r>
          </a:p>
          <a:p>
            <a:r>
              <a:rPr lang="en-IN" dirty="0"/>
              <a:t>•</a:t>
            </a:r>
          </a:p>
          <a:p>
            <a:r>
              <a:rPr lang="en-IN" b="1" dirty="0"/>
              <a:t>IBM Cloud IAM (Identity and Access Management)</a:t>
            </a:r>
            <a:r>
              <a:rPr lang="en-IN" dirty="0"/>
              <a:t> – For secure authentication. The IBM API Key is exchanged for a Bearer Token before every </a:t>
            </a:r>
            <a:r>
              <a:rPr lang="en-IN" dirty="0" err="1"/>
              <a:t>watsonx</a:t>
            </a:r>
            <a:r>
              <a:rPr lang="en-IN" dirty="0"/>
              <a:t> API call, ensuring the system is </a:t>
            </a:r>
            <a:r>
              <a:rPr lang="en-IN" b="1" dirty="0"/>
              <a:t>secure and access-controlled</a:t>
            </a:r>
            <a:r>
              <a:rPr lang="en-IN" dirty="0"/>
              <a:t>.</a:t>
            </a:r>
          </a:p>
          <a:p>
            <a:r>
              <a:rPr lang="en-IN" dirty="0"/>
              <a:t>•</a:t>
            </a:r>
          </a:p>
          <a:p>
            <a:r>
              <a:rPr lang="en-IN" b="1" dirty="0"/>
              <a:t>Node.js + Express.js</a:t>
            </a:r>
            <a:r>
              <a:rPr lang="en-IN" dirty="0"/>
              <a:t> – For building the backend REST API server that handles all business logic — book search, reservations, waitlist management, return processing, and notification dispatch.</a:t>
            </a:r>
          </a:p>
          <a:p>
            <a:r>
              <a:rPr lang="en-IN" dirty="0"/>
              <a:t>•</a:t>
            </a:r>
          </a:p>
          <a:p>
            <a:r>
              <a:rPr lang="en-IN" b="1" dirty="0"/>
              <a:t>HTML5 + CSS3 + JavaScript</a:t>
            </a:r>
            <a:r>
              <a:rPr lang="en-IN" dirty="0"/>
              <a:t> – For building the frontend Single Page Application — including the AI Chat interface, Book </a:t>
            </a:r>
            <a:r>
              <a:rPr lang="en-IN" dirty="0" err="1"/>
              <a:t>Catalog</a:t>
            </a:r>
            <a:r>
              <a:rPr lang="en-IN" dirty="0"/>
              <a:t>, My Books tab, and real-time Notification sidebar.</a:t>
            </a:r>
          </a:p>
          <a:p>
            <a:r>
              <a:rPr lang="en-IN" dirty="0"/>
              <a:t>•</a:t>
            </a:r>
          </a:p>
          <a:p>
            <a:r>
              <a:rPr lang="en-IN" b="1" dirty="0"/>
              <a:t>JSON File-based Database (</a:t>
            </a:r>
            <a:r>
              <a:rPr lang="en-IN" b="1" dirty="0" err="1"/>
              <a:t>db.json</a:t>
            </a:r>
            <a:r>
              <a:rPr lang="en-IN" b="1" dirty="0"/>
              <a:t>)</a:t>
            </a:r>
            <a:r>
              <a:rPr lang="en-IN" dirty="0"/>
              <a:t> – For persistent storage of reservations, waitlists, checked-out counts, and notification queues. Data survives server restarts — no student loses their reservation.</a:t>
            </a:r>
          </a:p>
          <a:p>
            <a:r>
              <a:rPr lang="en-IN" dirty="0"/>
              <a:t>•</a:t>
            </a:r>
          </a:p>
          <a:p>
            <a:r>
              <a:rPr lang="en-IN" b="1" dirty="0"/>
              <a:t>Prompt Engineering with </a:t>
            </a:r>
            <a:r>
              <a:rPr lang="en-IN" b="1" dirty="0" err="1"/>
              <a:t>Catalog</a:t>
            </a:r>
            <a:r>
              <a:rPr lang="en-IN" b="1" dirty="0"/>
              <a:t> Context Injection</a:t>
            </a:r>
            <a:r>
              <a:rPr lang="en-IN" dirty="0"/>
              <a:t> – The entire live library </a:t>
            </a:r>
            <a:r>
              <a:rPr lang="en-IN" dirty="0" err="1"/>
              <a:t>catalog</a:t>
            </a:r>
            <a:r>
              <a:rPr lang="en-IN" dirty="0"/>
              <a:t> is injected into every IBM Granite prompt, so the AI only recommends books that </a:t>
            </a:r>
            <a:r>
              <a:rPr lang="en-IN" b="1" dirty="0"/>
              <a:t>actually exist</a:t>
            </a:r>
            <a:r>
              <a:rPr lang="en-IN" dirty="0"/>
              <a:t> in the library — making it trustworthy and hallucination-free.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F060A9-6C06-0FAD-08C3-B1F4105DF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ym typeface="Times New Roman"/>
              </a:rPr>
              <a:t>Required Files created using IBM bob –</a:t>
            </a:r>
            <a:br>
              <a:rPr lang="en-US" b="1" dirty="0">
                <a:sym typeface="Times New Roman"/>
              </a:rPr>
            </a:br>
            <a:r>
              <a:rPr lang="en-US" b="1" dirty="0">
                <a:sym typeface="Times New Roman"/>
              </a:rPr>
              <a:t>App.js and server.js</a:t>
            </a:r>
            <a:br>
              <a:rPr lang="en-US" b="1" dirty="0">
                <a:sym typeface="Times New Roman"/>
              </a:rPr>
            </a:b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E9B00B-0AAA-6298-3CCC-B79A5E6AF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72D3F9-DD4A-B658-2466-D7B4A9116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8100324" cy="419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263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78865-2C5E-2A40-CFAC-ECE0A9DFD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E68C1-637D-FDB8-FD01-FB949DA80F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C7AD24-861E-38C8-4E6B-03C923221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3" y="465305"/>
            <a:ext cx="11375985" cy="573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735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D1732C-864E-CA0A-A83F-5E40E929C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US" sz="6000" b="1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lang="en-US" b="1" dirty="0">
              <a:sym typeface="Times New Roman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26E554-6C87-CCC1-57B0-66C67C512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5E83A5-3CDB-4997-A4FE-D77B13AA9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8801272" cy="464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761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59BCCB-5689-F938-5C6B-F78E51FC5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.env</a:t>
            </a:r>
            <a:endParaRPr lang="en-IN" b="1" u="sn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DDF4F3-1076-8486-30A0-558546BEE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FF1A6E-3409-B8C4-F82C-E81999163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5" y="1371312"/>
            <a:ext cx="9901084" cy="558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45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6DA3FA-1EF6-46F6-2344-43EFAA7F6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Style.css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66CB2D-FB86-B9B9-0D4E-667BE1B58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0BD6A4-2A5A-86A8-70A3-45F5B8B31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77" y="1545365"/>
            <a:ext cx="9360310" cy="514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998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IN" sz="2800" b="1" u="sng" dirty="0"/>
              <a:t>watsonx.ai Components Used -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endParaRPr sz="28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IN" b="1" dirty="0"/>
              <a:t>1) </a:t>
            </a:r>
            <a:r>
              <a:rPr lang="en-IN" b="1" u="sng" dirty="0"/>
              <a:t>Chat Input</a:t>
            </a:r>
            <a:r>
              <a:rPr lang="en-IN" dirty="0"/>
              <a:t> – Interface where students enter their queries in plain English, such as course topics, book names, or study needs, to interact with the Library AI Agent.</a:t>
            </a:r>
          </a:p>
          <a:p>
            <a:r>
              <a:rPr lang="en-IN" b="1" dirty="0"/>
              <a:t>2) </a:t>
            </a:r>
            <a:r>
              <a:rPr lang="en-IN" b="1" u="sng" dirty="0"/>
              <a:t>IBM </a:t>
            </a:r>
            <a:r>
              <a:rPr lang="en-IN" b="1" u="sng" dirty="0" err="1"/>
              <a:t>watsonx</a:t>
            </a:r>
            <a:r>
              <a:rPr lang="en-IN" b="1" u="sng" dirty="0"/>
              <a:t> AI Agent</a:t>
            </a:r>
            <a:r>
              <a:rPr lang="en-IN" dirty="0"/>
              <a:t> - Processes the student's input using the IBM Granite model to understand the academic context, search the library </a:t>
            </a:r>
            <a:r>
              <a:rPr lang="en-IN" dirty="0" err="1"/>
              <a:t>catalog</a:t>
            </a:r>
            <a:r>
              <a:rPr lang="en-IN" dirty="0"/>
              <a:t>, and generate personalized book recommendations with availability status.</a:t>
            </a:r>
          </a:p>
          <a:p>
            <a:r>
              <a:rPr lang="en-IN" b="1" dirty="0"/>
              <a:t>3) </a:t>
            </a:r>
            <a:r>
              <a:rPr lang="en-IN" b="1" u="sng" dirty="0"/>
              <a:t>Name of IBM Granite Model</a:t>
            </a:r>
            <a:r>
              <a:rPr lang="en-IN" dirty="0"/>
              <a:t> - </a:t>
            </a:r>
            <a:r>
              <a:rPr lang="en-IN" dirty="0" err="1"/>
              <a:t>ibm</a:t>
            </a:r>
            <a:r>
              <a:rPr lang="en-IN" dirty="0"/>
              <a:t>/granite-4-h-small → Fast, efficient for real-time library search, natural language understanding, and student query reasoning.</a:t>
            </a:r>
          </a:p>
          <a:p>
            <a:r>
              <a:rPr lang="en-IN" b="1" dirty="0"/>
              <a:t>4) </a:t>
            </a:r>
            <a:r>
              <a:rPr lang="en-IN" b="1" u="sng" dirty="0"/>
              <a:t>Chat Output</a:t>
            </a:r>
            <a:r>
              <a:rPr lang="en-IN" dirty="0"/>
              <a:t> - Displays AI-generated responses such as book recommendations, availability counts, shelf locations, reservation confirmations, and waitlist status messages.</a:t>
            </a:r>
          </a:p>
          <a:p>
            <a:r>
              <a:rPr lang="en-IN" b="1" dirty="0"/>
              <a:t>5) </a:t>
            </a:r>
            <a:r>
              <a:rPr lang="en-IN" b="1" u="sng" dirty="0"/>
              <a:t>Library </a:t>
            </a:r>
            <a:r>
              <a:rPr lang="en-IN" b="1" u="sng" dirty="0" err="1"/>
              <a:t>Catalog</a:t>
            </a:r>
            <a:r>
              <a:rPr lang="en-IN" b="1" u="sng" dirty="0"/>
              <a:t> Database (</a:t>
            </a:r>
            <a:r>
              <a:rPr lang="en-IN" b="1" u="sng" dirty="0" err="1"/>
              <a:t>db.json</a:t>
            </a:r>
            <a:r>
              <a:rPr lang="en-IN" b="1" u="sng" dirty="0"/>
              <a:t>)</a:t>
            </a:r>
            <a:r>
              <a:rPr lang="en-IN" dirty="0"/>
              <a:t> - Stores and retrieves all book records, reservation data, checked-out counts, waitlist queues, and student notification history for real-time access and persistence across server restarts.</a:t>
            </a:r>
          </a:p>
          <a:p>
            <a:r>
              <a:rPr lang="en-IN" b="1" dirty="0"/>
              <a:t>6) </a:t>
            </a:r>
            <a:r>
              <a:rPr lang="en-IN" b="1" u="sng" dirty="0"/>
              <a:t>IBM IAM Token Service</a:t>
            </a:r>
            <a:r>
              <a:rPr lang="en-IN" dirty="0"/>
              <a:t> - Handles secure authentication by converting the IBM API Key into a Bearer Token before every watsonx.ai API call, ensuring all AI requests are authorized and secure.</a:t>
            </a:r>
          </a:p>
          <a:p>
            <a:r>
              <a:rPr lang="en-IN" b="1" dirty="0"/>
              <a:t>7) </a:t>
            </a:r>
            <a:r>
              <a:rPr lang="en-IN" b="1" u="sng" dirty="0"/>
              <a:t>Reservation &amp; Waitlist Engine</a:t>
            </a:r>
            <a:r>
              <a:rPr lang="en-IN" dirty="0"/>
              <a:t> - Automatically manages book reservations, tracks waitlist positions, promotes the next student when a book is returned, and triggers real-time in-app notifications without any manual intervention.</a:t>
            </a:r>
          </a:p>
          <a:p>
            <a:r>
              <a:rPr lang="en-IN" b="1" dirty="0"/>
              <a:t>8) </a:t>
            </a:r>
            <a:r>
              <a:rPr lang="en-IN" b="1" u="sng" dirty="0"/>
              <a:t>Notification Component</a:t>
            </a:r>
            <a:r>
              <a:rPr lang="en-IN" dirty="0"/>
              <a:t> - Delivers instant in-app alerts to students the moment their waitlisted book becomes available, showing a red unread badge in the sidebar with the message, shelf location, and 48-hour collection window.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dirty="0" err="1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Watsonx</a:t>
            </a:r>
            <a:r>
              <a:rPr lang="en-US" sz="24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 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workflow-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endParaRPr sz="2400" b="1" dirty="0">
              <a:sym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9EFC92-662E-3D04-C160-A19D81D3E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4904"/>
            <a:ext cx="10550013" cy="578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</a:p>
          <a:p>
            <a:pPr lvl="0"/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575232-BD69-EFFD-0740-AE2684F328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412"/>
          <a:stretch>
            <a:fillRect/>
          </a:stretch>
        </p:blipFill>
        <p:spPr>
          <a:xfrm>
            <a:off x="407095" y="956206"/>
            <a:ext cx="10319899" cy="53462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6BCD1-187F-0C8D-3288-C144DB88D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IN" sz="3200" b="1" u="s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3C788-76FF-2165-8D6D-533280D42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sz="4800" b="1" u="sng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4800" b="1" u="sng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4800" b="1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PROJECT OUTPUT SCREENSHOTS</a:t>
            </a:r>
            <a:endParaRPr lang="en-IN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C231FB-CA52-1C12-88E0-C1E501CDA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0" y="251220"/>
            <a:ext cx="12192000" cy="576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17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F083A-F426-0A34-245E-649766CFE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DE10D-E5BF-31A4-8CFF-5E9F2A3E1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F7C45C-86EE-313F-2326-0914277BD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092"/>
            <a:ext cx="12192000" cy="612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509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63CD3-8243-7FFE-45C6-89C64CB52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C0960-73F6-18F7-E629-95AC33A9E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87AB1C-61A1-3BA9-A113-2EBF83377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7028"/>
            <a:ext cx="12192000" cy="572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A98CE-5A6A-950E-5692-05BC0302E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B7CCD-4F76-6EF8-AB8E-B451D29DF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61F6DD-9B2D-387C-9B3A-BD7B9C999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3564"/>
            <a:ext cx="12192000" cy="603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25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of Agentic AI in Library Agent</a:t>
            </a:r>
          </a:p>
          <a:p>
            <a:endParaRPr lang="en-US" b="1" dirty="0"/>
          </a:p>
          <a:p>
            <a:pPr lvl="0"/>
            <a:r>
              <a:rPr lang="en-IN" sz="2000" b="1" dirty="0"/>
              <a:t>Perceives intent</a:t>
            </a:r>
            <a:r>
              <a:rPr lang="en-IN" sz="2000" dirty="0"/>
              <a:t> — understands "I need books for my exam" not just keywords</a:t>
            </a:r>
          </a:p>
          <a:p>
            <a:pPr lvl="0"/>
            <a:r>
              <a:rPr lang="en-IN" sz="2000" b="1" dirty="0"/>
              <a:t>Reasons over </a:t>
            </a:r>
            <a:r>
              <a:rPr lang="en-IN" sz="2000" b="1" dirty="0" err="1"/>
              <a:t>catalog</a:t>
            </a:r>
            <a:r>
              <a:rPr lang="en-IN" sz="2000" dirty="0"/>
              <a:t> — picks the best match from 21 books using live data</a:t>
            </a:r>
          </a:p>
          <a:p>
            <a:pPr lvl="0"/>
            <a:r>
              <a:rPr lang="en-IN" sz="2000" b="1" dirty="0"/>
              <a:t>Takes actions autonomously</a:t>
            </a:r>
            <a:r>
              <a:rPr lang="en-IN" sz="2000" dirty="0"/>
              <a:t> — detects "reserve CS007" in chat and executes it</a:t>
            </a:r>
          </a:p>
          <a:p>
            <a:pPr lvl="0"/>
            <a:r>
              <a:rPr lang="en-IN" sz="2000" b="1" dirty="0"/>
              <a:t>Manages full lifecycle</a:t>
            </a:r>
            <a:r>
              <a:rPr lang="en-IN" sz="2000" dirty="0"/>
              <a:t> — return → waitlist promote → notify, all without human input</a:t>
            </a:r>
          </a:p>
          <a:p>
            <a:pPr lvl="0"/>
            <a:r>
              <a:rPr lang="en-IN" sz="2000" b="1" dirty="0"/>
              <a:t>Remembers context</a:t>
            </a:r>
            <a:r>
              <a:rPr lang="en-IN" sz="2000" dirty="0"/>
              <a:t> — conversation memory across the session</a:t>
            </a:r>
          </a:p>
          <a:p>
            <a:pPr lvl="0"/>
            <a:r>
              <a:rPr lang="en-IN" sz="2000" b="1" dirty="0"/>
              <a:t>Personalizes</a:t>
            </a:r>
            <a:r>
              <a:rPr lang="en-IN" sz="2000" dirty="0"/>
              <a:t> — adapts recommendations based on major and year of study</a:t>
            </a:r>
          </a:p>
          <a:p>
            <a:br>
              <a:rPr lang="en-IN" dirty="0"/>
            </a:br>
            <a:endParaRPr lang="en-US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Token Usage IBM BOB 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79484E-FEA6-2537-347A-F145DEDCD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042133"/>
            <a:ext cx="11699271" cy="547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2BEECE-456F-FC31-8B44-ED0AAA8D7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 Usages-</a:t>
            </a:r>
            <a:br>
              <a:rPr lang="en-US" dirty="0"/>
            </a:br>
            <a:r>
              <a:rPr lang="en-US" sz="2000" dirty="0"/>
              <a:t>Token used = 11588</a:t>
            </a:r>
            <a:endParaRPr lang="en-IN" sz="2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B09E2-86D6-3C8D-1AB6-89E0D2AD7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                                                               After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2A8097-B0F4-906A-3585-395543ABBA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786" b="4147"/>
          <a:stretch>
            <a:fillRect/>
          </a:stretch>
        </p:blipFill>
        <p:spPr>
          <a:xfrm>
            <a:off x="70161" y="3116826"/>
            <a:ext cx="5228086" cy="31057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B19DC3-FB1F-BAAD-1699-D163656384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18"/>
          <a:stretch>
            <a:fillRect/>
          </a:stretch>
        </p:blipFill>
        <p:spPr>
          <a:xfrm>
            <a:off x="6066286" y="2878643"/>
            <a:ext cx="5032782" cy="332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418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</a:p>
          <a:p>
            <a:endParaRPr lang="en-US" sz="2400" b="1" dirty="0"/>
          </a:p>
          <a:p>
            <a:r>
              <a:rPr lang="en-US" sz="2400" b="1" dirty="0"/>
              <a:t>Novelty-</a:t>
            </a:r>
          </a:p>
          <a:p>
            <a:pPr lvl="0"/>
            <a:r>
              <a:rPr lang="en-IN" sz="1800" dirty="0"/>
              <a:t>No AI hallucinations — only recommends books that physically exist</a:t>
            </a:r>
          </a:p>
          <a:p>
            <a:pPr lvl="0"/>
            <a:r>
              <a:rPr lang="en-IN" sz="1800" dirty="0"/>
              <a:t>Natural language as the only interface — system adapts to student, not vice versa</a:t>
            </a:r>
          </a:p>
          <a:p>
            <a:pPr lvl="0"/>
            <a:r>
              <a:rPr lang="en-IN" sz="1800" dirty="0"/>
              <a:t>Waitlist auto-fulfilled the instant a book is returned</a:t>
            </a:r>
          </a:p>
          <a:p>
            <a:pPr lvl="0"/>
            <a:r>
              <a:rPr lang="en-IN" sz="1800" dirty="0"/>
              <a:t>IBM Granite used as a domain-specific academic library agent</a:t>
            </a:r>
          </a:p>
          <a:p>
            <a:endParaRPr lang="en-IN" sz="2400" dirty="0"/>
          </a:p>
          <a:p>
            <a:r>
              <a:rPr lang="en-US" sz="2400" b="1" dirty="0"/>
              <a:t>Uniqueness-</a:t>
            </a:r>
            <a:endParaRPr lang="en-IN" sz="2400" dirty="0"/>
          </a:p>
          <a:p>
            <a:pPr lvl="0"/>
            <a:r>
              <a:rPr lang="en-IN" sz="1800" dirty="0"/>
              <a:t>End-to-end in one system — no other tool covers the full journey</a:t>
            </a:r>
          </a:p>
          <a:p>
            <a:pPr lvl="0"/>
            <a:r>
              <a:rPr lang="en-IN" sz="1800" dirty="0"/>
              <a:t>Zero infrastructure cost — runs on IBM Cloud Lite, completely free</a:t>
            </a:r>
          </a:p>
          <a:p>
            <a:pPr lvl="0"/>
            <a:r>
              <a:rPr lang="en-IN" sz="1800" dirty="0"/>
              <a:t>AI knows what it does NOT have — uniquely honest and trustworthy</a:t>
            </a:r>
          </a:p>
          <a:p>
            <a:pPr lvl="0"/>
            <a:r>
              <a:rPr lang="en-IN" sz="1800" dirty="0"/>
              <a:t>No heavy frameworks — pure prompt engineering, lightweight and transparent</a:t>
            </a:r>
          </a:p>
          <a:p>
            <a:pPr lvl="0"/>
            <a:r>
              <a:rPr lang="en-IN" sz="1800" dirty="0"/>
              <a:t>Designed specifically for how real university libraries work</a:t>
            </a:r>
          </a:p>
          <a:p>
            <a:br>
              <a:rPr lang="en-IN" sz="2400" dirty="0"/>
            </a:b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https://github.com/Sidharth6834/Library-Ai-Agent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 dirty="0">
                <a:latin typeface="Times New Roman"/>
                <a:ea typeface="Times New Roman"/>
                <a:cs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app.json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file , 2) yourproblemstatement.pdf file  3) your projectpresntation.pptx file 4)any other files 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600" b="1" u="sng" dirty="0">
                <a:sym typeface="Times New Roman"/>
              </a:rPr>
              <a:t>Future Scope </a:t>
            </a:r>
            <a:endParaRPr sz="3600" b="1" u="sng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IN" sz="2800" b="1" dirty="0"/>
              <a:t>Multi-language support</a:t>
            </a:r>
            <a:r>
              <a:rPr lang="en-IN" sz="2800" dirty="0"/>
              <a:t> — Hindi, French, Arabic via IBM Granite</a:t>
            </a:r>
          </a:p>
          <a:p>
            <a:pPr lvl="0"/>
            <a:r>
              <a:rPr lang="en-IN" sz="2800" b="1" dirty="0"/>
              <a:t>Voice input</a:t>
            </a:r>
            <a:r>
              <a:rPr lang="en-IN" sz="2800" dirty="0"/>
              <a:t> — speak your query instead of typing</a:t>
            </a:r>
          </a:p>
          <a:p>
            <a:pPr lvl="0"/>
            <a:r>
              <a:rPr lang="en-IN" sz="2800" b="1" dirty="0"/>
              <a:t>Course syllabus integration</a:t>
            </a:r>
            <a:r>
              <a:rPr lang="en-IN" sz="2800" dirty="0"/>
              <a:t> — AI auto-reserves books from your syllabus</a:t>
            </a:r>
          </a:p>
          <a:p>
            <a:pPr lvl="0"/>
            <a:r>
              <a:rPr lang="en-IN" sz="2800" b="1" dirty="0"/>
              <a:t>Book ratings &amp; reviews</a:t>
            </a:r>
            <a:r>
              <a:rPr lang="en-IN" sz="2800" dirty="0"/>
              <a:t> — students rate books, AI learns from it</a:t>
            </a:r>
          </a:p>
          <a:p>
            <a:pPr lvl="0"/>
            <a:r>
              <a:rPr lang="en-IN" sz="2800" b="1" dirty="0"/>
              <a:t>LMS integration</a:t>
            </a:r>
            <a:r>
              <a:rPr lang="en-IN" sz="2800" dirty="0"/>
              <a:t> — connect to Moodle, Blackboard, Canvas</a:t>
            </a:r>
          </a:p>
          <a:p>
            <a:pPr lvl="0"/>
            <a:r>
              <a:rPr lang="en-IN" sz="2800" b="1" dirty="0"/>
              <a:t>Digital &amp; e-book recommendations</a:t>
            </a:r>
            <a:r>
              <a:rPr lang="en-IN" sz="2800" dirty="0"/>
              <a:t> — beyond physical books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Please  add your credly certificate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1B979F-9B77-473D-A11C-FC5EFDF7B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48" y="1213281"/>
            <a:ext cx="7318874" cy="564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723D2-8762-AB06-31F0-F57F15CB7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094C2-D84D-4229-0BBD-47985E656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3CD7D5-9D63-A1AE-6E63-36957969C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08" y="143677"/>
            <a:ext cx="8480802" cy="640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1927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6DDD1-83A1-999F-54AD-5B7BF32C8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9AE7D-F2D9-8DE5-48DC-51AE40056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765F99-0348-DB55-889B-B81F712B1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54" y="331201"/>
            <a:ext cx="8343881" cy="628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8154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C9B3F0-A4A7-7CB9-857E-422E9D73B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43" y="1200580"/>
            <a:ext cx="9191266" cy="566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1577</Words>
  <Application>Microsoft Office PowerPoint</Application>
  <PresentationFormat>Widescreen</PresentationFormat>
  <Paragraphs>141</Paragraphs>
  <Slides>28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Required Files created using IBM bob – App.js and server.js </vt:lpstr>
      <vt:lpstr>PowerPoint Presentation</vt:lpstr>
      <vt:lpstr> IBM Bob Screenshots:</vt:lpstr>
      <vt:lpstr>.env</vt:lpstr>
      <vt:lpstr>Style.css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Token Usages- Token used = 11588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Sidharth Kumar</cp:lastModifiedBy>
  <cp:revision>15</cp:revision>
  <dcterms:created xsi:type="dcterms:W3CDTF">2025-07-08T05:06:56Z</dcterms:created>
  <dcterms:modified xsi:type="dcterms:W3CDTF">2026-09-11T16:25:04Z</dcterms:modified>
</cp:coreProperties>
</file>